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Feasibility Score (%)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4C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369A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7598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C4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Technical</c:v>
                  </c:pt>
                  <c:pt idx="1">
                    <c:v>Economic</c:v>
                  </c:pt>
                  <c:pt idx="2">
                    <c:v>Scalability</c:v>
                  </c:pt>
                  <c:pt idx="3">
                    <c:v>Deployment</c:v>
                  </c:pt>
                  <c:pt idx="4">
                    <c:v>Team Fit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</c:v>
                </c:pt>
                <c:pt idx="1">
                  <c:v>75</c:v>
                </c:pt>
                <c:pt idx="2">
                  <c:v>82</c:v>
                </c:pt>
                <c:pt idx="3">
                  <c:v>70</c:v>
                </c:pt>
                <c:pt idx="4">
                  <c:v>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2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1828800"/>
            <a:ext cx="2286000" cy="22860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365760"/>
            <a:ext cx="54864" cy="54864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1005840"/>
            <a:ext cx="54864" cy="54864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1645920"/>
            <a:ext cx="54864" cy="54864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2286000"/>
            <a:ext cx="54864" cy="54864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0" y="365760"/>
            <a:ext cx="54864" cy="54864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1005840"/>
            <a:ext cx="54864" cy="54864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1645920"/>
            <a:ext cx="54864" cy="54864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2286000"/>
            <a:ext cx="54864" cy="54864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365760"/>
            <a:ext cx="54864" cy="54864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005840"/>
            <a:ext cx="54864" cy="54864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645920"/>
            <a:ext cx="54864" cy="54864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286000"/>
            <a:ext cx="54864" cy="54864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365760"/>
            <a:ext cx="54864" cy="54864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1005840"/>
            <a:ext cx="54864" cy="54864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1645920"/>
            <a:ext cx="54864" cy="54864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2286000"/>
            <a:ext cx="54864" cy="54864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365760"/>
            <a:ext cx="54864" cy="54864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1005840"/>
            <a:ext cx="54864" cy="54864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0" y="1645920"/>
            <a:ext cx="54864" cy="54864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89520" y="2286000"/>
            <a:ext cx="54864" cy="54864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365760"/>
            <a:ext cx="54864" cy="54864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1005840"/>
            <a:ext cx="54864" cy="54864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1645920"/>
            <a:ext cx="54864" cy="54864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2286000"/>
            <a:ext cx="54864" cy="54864"/>
          </a:xfrm>
          <a:prstGeom prst="ellipse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57200"/>
            <a:ext cx="2286000" cy="320040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57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SIH 2025 — MARL PROJECT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Urban Traffic Control</a:t>
            </a:r>
            <a:endParaRPr lang="en-US" sz="4800" dirty="0"/>
          </a:p>
        </p:txBody>
      </p:sp>
      <p:sp>
        <p:nvSpPr>
          <p:cNvPr id="32" name="Text 30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via Multi-Agent Reinforcement Learning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457200" y="26517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Architecting a QMIX-based cooperative control system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real-time adaptive traffic signal optimization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3703320"/>
            <a:ext cx="1920240" cy="1051560"/>
          </a:xfrm>
          <a:prstGeom prst="rect">
            <a:avLst/>
          </a:prstGeom>
          <a:solidFill>
            <a:srgbClr val="1A2235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67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57200" y="4224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Wait Time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Reduction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606040" y="3703320"/>
            <a:ext cx="1920240" cy="1051560"/>
          </a:xfrm>
          <a:prstGeom prst="rect">
            <a:avLst/>
          </a:prstGeom>
          <a:solidFill>
            <a:srgbClr val="1A2235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06040" y="3767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QMIX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2606040" y="4224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Algorithm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Used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703320"/>
            <a:ext cx="1920240" cy="1051560"/>
          </a:xfrm>
          <a:prstGeom prst="rect">
            <a:avLst/>
          </a:prstGeom>
          <a:solidFill>
            <a:srgbClr val="1A2235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767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N→1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754880" y="4224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Edge-to-Hub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903720" y="3703320"/>
            <a:ext cx="1920240" cy="1051560"/>
          </a:xfrm>
          <a:prstGeom prst="rect">
            <a:avLst/>
          </a:prstGeom>
          <a:solidFill>
            <a:srgbClr val="1A2235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03720" y="37673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903720" y="4224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Signal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</a:rPr>
              <a:t>Adaptation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3657600"/>
            <a:ext cx="8412480" cy="0"/>
          </a:xfrm>
          <a:prstGeom prst="line">
            <a:avLst/>
          </a:prstGeom>
          <a:noFill/>
          <a:ln w="12700">
            <a:solidFill>
              <a:srgbClr val="00D4FF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</a:rPr>
              <a:t>02 / PROBLEM STATEMENT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Urban Traffic Crisis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926080" cy="109728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₹1.5L Cr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Annual economic loss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due to congestion (India)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2926080" cy="109728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23160"/>
            <a:ext cx="54864" cy="10972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68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 min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Avg excess wait time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per commute in metros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2926080" cy="109728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657600"/>
            <a:ext cx="54864" cy="10972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03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Fuel wasted idling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at static signals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66160" y="1143000"/>
            <a:ext cx="52578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49040" y="117957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🚦 Static Timers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49040" y="15270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Fixed green/red cycles ignore real-time traffic density and create bottlenecks.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66160" y="2103120"/>
            <a:ext cx="52578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49040" y="21396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📡 No Coordination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49040" y="24871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Adjacent intersections operate independently, causing cascading delays.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66160" y="3063240"/>
            <a:ext cx="52578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749040" y="309981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📊 Poor Scalability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49040" y="34472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Rule-based systems cannot adapt to incidents, events, or time-of-day variation.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66160" y="4023360"/>
            <a:ext cx="5257800" cy="822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749040" y="40599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🧠 Data Blindness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749040" y="44074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Existing systems don't leverage visual sensor data or predictive modeling.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🏙️  Mumbai loses 11 days/year per commuter to traffic delays  |  Bengaluru ranks #5 globally for worst congestion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</a:rPr>
              <a:t>03 /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MARL-Powered Adaptive Signals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011680" cy="228600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01168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716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93192" y="21031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Thin-Edge Agents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93192" y="2542032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CNNs/ViTs at each intersection extract traffic density vectors locally — no raw video sent to hub.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68880" y="1188720"/>
            <a:ext cx="2011680" cy="228600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68880" y="1188720"/>
            <a:ext cx="20116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37160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42032" y="21031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QMIX Controller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542032" y="2542032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Centralized training with decentralized execution — agents cooperate via shared Q-value mixing.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17720" y="1188720"/>
            <a:ext cx="2011680" cy="228600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17720" y="1188720"/>
            <a:ext cx="20116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37160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90872" y="21031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Central Hub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690872" y="2542032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Aggregates latent vectors, runs QMIX policy, dispatches optimized phase commands back to lights.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766560" y="1188720"/>
            <a:ext cx="2011680" cy="228600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766560" y="1188720"/>
            <a:ext cx="20116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371600"/>
            <a:ext cx="640080" cy="6400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39712" y="21031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Reward Shaping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839712" y="2542032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Minimize cumulative wait time &amp; queue length; penalize emergency vehicle delay and starvation.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2231136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FF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4379976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6528816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9E0B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320040" y="3657600"/>
            <a:ext cx="850392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0040" y="3657600"/>
            <a:ext cx="54864" cy="1188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48640" y="37124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💡  Thin-Edge Approach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48640" y="405079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Instead of streaming raw video (bandwidth-intensive), local vision encoders (CNN/ViT) compress each camera frame into a compact latent vector (e.g. 128-d) encoding vehicle count, queue length, and density. Only these vectors are sent to the hub — reducing bandwidth by ~99% while preserving actionable information.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</a:rPr>
              <a:t>04 / FEASIBILITY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This Achievable?</a:t>
            </a:r>
            <a:endParaRPr lang="en-US" sz="3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43000"/>
          <a:ext cx="4023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572000" y="1143000"/>
            <a:ext cx="4297680" cy="429768"/>
          </a:xfrm>
          <a:prstGeom prst="rect">
            <a:avLst/>
          </a:prstGeom>
          <a:solidFill>
            <a:srgbClr val="0D1F0F"/>
          </a:solidFill>
          <a:ln w="12700">
            <a:solidFill>
              <a:srgbClr val="0D1F0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663440" y="1234440"/>
            <a:ext cx="246888" cy="2468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63440" y="123444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0" y="12161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SUMO + RLlib allow full simulation before any hardware deployment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0" y="1655064"/>
            <a:ext cx="4297680" cy="429768"/>
          </a:xfrm>
          <a:prstGeom prst="rect">
            <a:avLst/>
          </a:prstGeom>
          <a:solidFill>
            <a:srgbClr val="0D1F0F"/>
          </a:solidFill>
          <a:ln w="12700">
            <a:solidFill>
              <a:srgbClr val="0D1F0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746504"/>
            <a:ext cx="246888" cy="2468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174650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9200" y="17282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QMIX has been validated in SMAC multi-agent benchmarks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0" y="2167128"/>
            <a:ext cx="4297680" cy="429768"/>
          </a:xfrm>
          <a:prstGeom prst="rect">
            <a:avLst/>
          </a:prstGeom>
          <a:solidFill>
            <a:srgbClr val="0D1F0F"/>
          </a:solidFill>
          <a:ln w="12700">
            <a:solidFill>
              <a:srgbClr val="0D1F0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2258568"/>
            <a:ext cx="246888" cy="2468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22585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0" y="22402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CNN/ViT vision encoders run on edge hardware (Jetson Nano ~$99)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0" y="2679192"/>
            <a:ext cx="4297680" cy="429768"/>
          </a:xfrm>
          <a:prstGeom prst="rect">
            <a:avLst/>
          </a:prstGeom>
          <a:solidFill>
            <a:srgbClr val="0D1F0F"/>
          </a:solidFill>
          <a:ln w="12700">
            <a:solidFill>
              <a:srgbClr val="0D1F0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2770632"/>
            <a:ext cx="246888" cy="2468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277063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029200" y="27523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Next.js + MongoDB dashboard ready from existing full-stack experience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0" y="3191256"/>
            <a:ext cx="4297680" cy="429768"/>
          </a:xfrm>
          <a:prstGeom prst="rect">
            <a:avLst/>
          </a:prstGeom>
          <a:solidFill>
            <a:srgbClr val="1F0D0D"/>
          </a:solidFill>
          <a:ln w="12700">
            <a:solidFill>
              <a:srgbClr val="1F0D0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63440" y="3282696"/>
            <a:ext cx="246888" cy="24688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63440" y="328269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029200" y="32644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Real intersection deployment requires municipal API access (later phase)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572000" y="3703320"/>
            <a:ext cx="4297680" cy="429768"/>
          </a:xfrm>
          <a:prstGeom prst="rect">
            <a:avLst/>
          </a:prstGeom>
          <a:solidFill>
            <a:srgbClr val="0D1F0F"/>
          </a:solidFill>
          <a:ln w="12700">
            <a:solidFill>
              <a:srgbClr val="0D1F0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663440" y="3794760"/>
            <a:ext cx="246888" cy="2468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63440" y="379476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029200" y="37764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Open-source datasets (CityFlow, SUMO) remove data acquisition barrier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365760" y="44348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Overall Feasibility: STRONG ✅  — Pure simulation scope removes hardware risk for SIH submission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</a:rPr>
              <a:t>05 / 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Technologies &amp; Frameworks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554480" cy="3657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Simulation Layer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664208"/>
            <a:ext cx="155448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664208"/>
            <a:ext cx="1554480" cy="54864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737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SUMO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322576"/>
            <a:ext cx="155448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322576"/>
            <a:ext cx="1554480" cy="54864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3957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CityFlow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980944"/>
            <a:ext cx="155448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980944"/>
            <a:ext cx="1554480" cy="54864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05409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OpenStreetMap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057400" y="1188720"/>
            <a:ext cx="155448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57400" y="1188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RL / AI Layer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57400" y="1664208"/>
            <a:ext cx="155448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57400" y="1664208"/>
            <a:ext cx="1554480" cy="54864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57400" y="1737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57400" y="2322576"/>
            <a:ext cx="155448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57400" y="2322576"/>
            <a:ext cx="1554480" cy="54864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57400" y="23957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RLlib (Ray)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057400" y="2980944"/>
            <a:ext cx="155448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57400" y="2980944"/>
            <a:ext cx="1554480" cy="54864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57400" y="305409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PyTorch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057400" y="3639312"/>
            <a:ext cx="155448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57400" y="3639312"/>
            <a:ext cx="1554480" cy="54864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57400" y="371246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QMIX Algo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794760" y="1188720"/>
            <a:ext cx="155448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1188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Vision / Edge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94760" y="1664208"/>
            <a:ext cx="155448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94760" y="1664208"/>
            <a:ext cx="1554480" cy="54864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94760" y="1737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ResNet-18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794760" y="2322576"/>
            <a:ext cx="155448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94760" y="2322576"/>
            <a:ext cx="1554480" cy="54864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23957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ViT-Tiny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794760" y="2980944"/>
            <a:ext cx="155448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94760" y="2980944"/>
            <a:ext cx="1554480" cy="54864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94760" y="305409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OpenCV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794760" y="3639312"/>
            <a:ext cx="155448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94760" y="3639312"/>
            <a:ext cx="1554480" cy="54864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94760" y="371246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ONNX Runtime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532120" y="1188720"/>
            <a:ext cx="155448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1188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Backend / API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532120" y="1664208"/>
            <a:ext cx="155448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32120" y="1664208"/>
            <a:ext cx="1554480" cy="54864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32120" y="1737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FastAPI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532120" y="2322576"/>
            <a:ext cx="155448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532120" y="2322576"/>
            <a:ext cx="1554480" cy="54864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32120" y="23957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WebSocket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532120" y="2980944"/>
            <a:ext cx="155448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532120" y="2980944"/>
            <a:ext cx="1554480" cy="54864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32120" y="305409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Redis Pub/Sub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532120" y="3639312"/>
            <a:ext cx="155448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532120" y="3639312"/>
            <a:ext cx="1554480" cy="54864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371246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Docker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7269480" y="1188720"/>
            <a:ext cx="1554480" cy="3657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69480" y="1188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Frontend / Dash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269480" y="1664208"/>
            <a:ext cx="155448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269480" y="1664208"/>
            <a:ext cx="1554480" cy="54864"/>
          </a:xfrm>
          <a:prstGeom prst="rect">
            <a:avLst/>
          </a:prstGeom>
          <a:solidFill>
            <a:srgbClr val="F472B6">
              <a:alpha val="40000"/>
            </a:srgbClr>
          </a:solidFill>
          <a:ln w="12700">
            <a:solidFill>
              <a:srgbClr val="F472B6">
                <a:alpha val="4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69480" y="1737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Next.js 14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7269480" y="2322576"/>
            <a:ext cx="155448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269480" y="2322576"/>
            <a:ext cx="1554480" cy="54864"/>
          </a:xfrm>
          <a:prstGeom prst="rect">
            <a:avLst/>
          </a:prstGeom>
          <a:solidFill>
            <a:srgbClr val="F472B6">
              <a:alpha val="40000"/>
            </a:srgbClr>
          </a:solidFill>
          <a:ln w="12700">
            <a:solidFill>
              <a:srgbClr val="F472B6">
                <a:alpha val="4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69480" y="23957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Tailwind CSS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269480" y="2980944"/>
            <a:ext cx="155448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269480" y="2980944"/>
            <a:ext cx="1554480" cy="54864"/>
          </a:xfrm>
          <a:prstGeom prst="rect">
            <a:avLst/>
          </a:prstGeom>
          <a:solidFill>
            <a:srgbClr val="F472B6">
              <a:alpha val="40000"/>
            </a:srgbClr>
          </a:solidFill>
          <a:ln w="12700">
            <a:solidFill>
              <a:srgbClr val="F472B6">
                <a:alpha val="4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269480" y="305409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Recharts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7269480" y="3639312"/>
            <a:ext cx="1554480" cy="566928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69480" y="3639312"/>
            <a:ext cx="1554480" cy="54864"/>
          </a:xfrm>
          <a:prstGeom prst="rect">
            <a:avLst/>
          </a:prstGeom>
          <a:solidFill>
            <a:srgbClr val="F472B6">
              <a:alpha val="40000"/>
            </a:srgbClr>
          </a:solidFill>
          <a:ln w="12700">
            <a:solidFill>
              <a:srgbClr val="F472B6">
                <a:alpha val="4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69480" y="371246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MongoDB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1783080" y="2331720"/>
            <a:ext cx="274320" cy="0"/>
          </a:xfrm>
          <a:prstGeom prst="line">
            <a:avLst/>
          </a:prstGeom>
          <a:noFill/>
          <a:ln w="1905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520440" y="2331720"/>
            <a:ext cx="274320" cy="0"/>
          </a:xfrm>
          <a:prstGeom prst="line">
            <a:avLst/>
          </a:prstGeom>
          <a:noFill/>
          <a:ln w="1905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257800" y="2331720"/>
            <a:ext cx="274320" cy="0"/>
          </a:xfrm>
          <a:prstGeom prst="line">
            <a:avLst/>
          </a:prstGeom>
          <a:noFill/>
          <a:ln w="1905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995160" y="2331720"/>
            <a:ext cx="274320" cy="0"/>
          </a:xfrm>
          <a:prstGeom prst="line">
            <a:avLst/>
          </a:prstGeom>
          <a:noFill/>
          <a:ln w="1905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tools are open-source / free-tier available — zero licensing cost for simulation &amp; prototype phases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FF"/>
                </a:solidFill>
              </a:rPr>
              <a:t>06 / 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Diagram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1A2235"/>
          </a:solidFill>
          <a:ln w="1905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98448"/>
            <a:ext cx="7955280" cy="3255264"/>
          </a:xfrm>
          <a:prstGeom prst="rect">
            <a:avLst/>
          </a:prstGeom>
          <a:solidFill>
            <a:srgbClr val="1A2235"/>
          </a:solidFill>
          <a:ln w="12700">
            <a:solidFill>
              <a:srgbClr val="00D4FF">
                <a:alpha val="30000"/>
              </a:srgbClr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00D4FF">
                    <a:alpha val="60000"/>
                  </a:srgbClr>
                </a:solidFill>
              </a:rPr>
              <a:t>[ INSERT ARCHITECTURE DIAGRAM HERE 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Suggested: Edge Agents → Latent Vector Transmission → Central Hub → QMIX Policy → Signal Commands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533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🎥 Camera Node (N)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0" y="13533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🧠 QMIX Hub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🌐 Simulation Env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📊 Dashboard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Tip: Use draw.io, Excalidraw, or Figma to create your diagram, then paste as image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72B6"/>
                </a:solidFill>
              </a:rPr>
              <a:t>07 / REFERENCES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Papers &amp; Resources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60520" cy="1170432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280160"/>
            <a:ext cx="640080" cy="201168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2801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QMIX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30352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QMIX: Monotonic Value Function Factorisation for Deep MARL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0352" y="18379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3AED"/>
                </a:solidFill>
              </a:rPr>
              <a:t>Rashid et al., 2018 — ICML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0352" y="20482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🔗 https://arxiv.org/abs/1803.11605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09160" y="1188720"/>
            <a:ext cx="4160520" cy="1170432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188720"/>
            <a:ext cx="54864" cy="117043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73752" y="1280160"/>
            <a:ext cx="640080" cy="201168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2801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Sim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73752" y="1508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CityFlow: A Multi-Agent Reinforcement Learning Environment for Large-Scale City Traffic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73752" y="18379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D4FF"/>
                </a:solidFill>
              </a:rPr>
              <a:t>Zhang et al., 2019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73752" y="20482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🔗 https://arxiv.org/abs/1905.05217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487168"/>
            <a:ext cx="4160520" cy="1170432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487168"/>
            <a:ext cx="54864" cy="11704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578608"/>
            <a:ext cx="640080" cy="201168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5786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Vision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0352" y="28072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An Image is Worth 16×16 Words: Transformers for Image Recognition at Scale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0352" y="3136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0B981"/>
                </a:solidFill>
              </a:rPr>
              <a:t>Dosovitskiy et al., 2020 — ICLR 2021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0352" y="33467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🔗 https://arxiv.org/abs/2010.11929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2487168"/>
            <a:ext cx="4160520" cy="1170432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487168"/>
            <a:ext cx="54864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73752" y="2578608"/>
            <a:ext cx="640080" cy="201168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73752" y="25786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Traffic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73752" y="28072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Intelligent Traffic Signal Control with Deep Reinforcement Learning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73752" y="3136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</a:rPr>
              <a:t>Wei et al., 2018 — AAAI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73752" y="33467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🔗 https://arxiv.org/abs/1812.11901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3785616"/>
            <a:ext cx="4160520" cy="1170432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5760" y="3785616"/>
            <a:ext cx="54864" cy="117043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3877056"/>
            <a:ext cx="640080" cy="201168"/>
          </a:xfrm>
          <a:prstGeom prst="rect">
            <a:avLst/>
          </a:prstGeom>
          <a:solidFill>
            <a:srgbClr val="F472B6">
              <a:alpha val="30000"/>
            </a:srgbClr>
          </a:solidFill>
          <a:ln w="12700">
            <a:solidFill>
              <a:srgbClr val="F472B6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38770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MARL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30352" y="41056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The StarCraft Multi-Agent Challenge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30352" y="44348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472B6"/>
                </a:solidFill>
              </a:rPr>
              <a:t>Samvelyan et al., 2019 — NeurIPS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0352" y="4645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🔗 https://arxiv.org/abs/1902.04043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09160" y="3785616"/>
            <a:ext cx="4160520" cy="1170432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785616"/>
            <a:ext cx="54864" cy="1170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73752" y="3877056"/>
            <a:ext cx="640080" cy="201168"/>
          </a:xfrm>
          <a:prstGeom prst="rect">
            <a:avLst/>
          </a:prstGeom>
          <a:solidFill>
            <a:srgbClr val="94A3B8">
              <a:alpha val="30000"/>
            </a:srgbClr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73752" y="38770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Add ↓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73752" y="41056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[ Add Your Own Paper Here ]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73752" y="44348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Author et al., Year — Venue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73752" y="4645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🔗 https://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RL for Urban Traffic Control</dc:title>
  <dc:subject>PptxGenJS Presentation</dc:subject>
  <dc:creator>PptxGenJS</dc:creator>
  <cp:lastModifiedBy>PptxGenJS</cp:lastModifiedBy>
  <cp:revision>1</cp:revision>
  <dcterms:created xsi:type="dcterms:W3CDTF">2026-03-21T13:17:00Z</dcterms:created>
  <dcterms:modified xsi:type="dcterms:W3CDTF">2026-03-21T13:17:00Z</dcterms:modified>
</cp:coreProperties>
</file>